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1" r:id="rId1"/>
  </p:sldMasterIdLst>
  <p:notesMasterIdLst>
    <p:notesMasterId r:id="rId11"/>
  </p:notesMasterIdLst>
  <p:sldIdLst>
    <p:sldId id="257" r:id="rId2"/>
    <p:sldId id="259" r:id="rId3"/>
    <p:sldId id="260" r:id="rId4"/>
    <p:sldId id="267" r:id="rId5"/>
    <p:sldId id="269" r:id="rId6"/>
    <p:sldId id="262" r:id="rId7"/>
    <p:sldId id="263" r:id="rId8"/>
    <p:sldId id="268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534"/>
    <p:restoredTop sz="71900"/>
  </p:normalViewPr>
  <p:slideViewPr>
    <p:cSldViewPr snapToGrid="0" snapToObjects="1">
      <p:cViewPr>
        <p:scale>
          <a:sx n="98" d="100"/>
          <a:sy n="98" d="100"/>
        </p:scale>
        <p:origin x="208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462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998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078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659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3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90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7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94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33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076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9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08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3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9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SSEGISandData/COVID-1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565" y="1087374"/>
            <a:ext cx="6737617" cy="1000978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1" y="2535446"/>
            <a:ext cx="8621486" cy="3554457"/>
          </a:xfrm>
        </p:spPr>
        <p:txBody>
          <a:bodyPr>
            <a:normAutofit fontScale="77500" lnSpcReduction="20000"/>
          </a:bodyPr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2100" dirty="0">
                <a:solidFill>
                  <a:schemeClr val="tx1"/>
                </a:solidFill>
              </a:rPr>
              <a:t>Objective: Analyze global COVID-19 spread using real-world medical data</a:t>
            </a:r>
          </a:p>
          <a:p>
            <a:r>
              <a:rPr lang="en-US" sz="2100" dirty="0">
                <a:solidFill>
                  <a:schemeClr val="tx1"/>
                </a:solidFill>
              </a:rPr>
              <a:t>Dataset Source: Johns Hopkins University CSSE COVID-19 data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</a:rPr>
              <a:t>     Link: </a:t>
            </a:r>
            <a:r>
              <a:rPr lang="en-US" sz="2100" dirty="0">
                <a:solidFill>
                  <a:schemeClr val="tx1"/>
                </a:solidFill>
                <a:hlinkClick r:id="rId3"/>
              </a:rPr>
              <a:t>https://github.com/CSSEGISandData/COVID-19</a:t>
            </a:r>
            <a:endParaRPr lang="en-US" sz="21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100" dirty="0">
              <a:solidFill>
                <a:schemeClr val="tx1"/>
              </a:solidFill>
            </a:endParaRPr>
          </a:p>
          <a:p>
            <a:r>
              <a:rPr lang="en-US" sz="2100" dirty="0">
                <a:solidFill>
                  <a:schemeClr val="tx1"/>
                </a:solidFill>
              </a:rPr>
              <a:t>Dataset Description: </a:t>
            </a:r>
          </a:p>
          <a:p>
            <a:pPr>
              <a:buFont typeface="Wingdings" pitchFamily="2" charset="2"/>
              <a:buChar char="v"/>
            </a:pPr>
            <a:r>
              <a:rPr lang="en-US" sz="2100" dirty="0">
                <a:solidFill>
                  <a:schemeClr val="tx1"/>
                </a:solidFill>
              </a:rPr>
              <a:t>Daily cumulative confirmed COVID-19 cases by country</a:t>
            </a:r>
          </a:p>
          <a:p>
            <a:pPr>
              <a:buFont typeface="Wingdings" pitchFamily="2" charset="2"/>
              <a:buChar char="v"/>
            </a:pPr>
            <a:r>
              <a:rPr lang="en-US" sz="2100" dirty="0">
                <a:solidFill>
                  <a:schemeClr val="tx1"/>
                </a:solidFill>
              </a:rPr>
              <a:t>Global coverage across 180+ countries</a:t>
            </a:r>
          </a:p>
          <a:p>
            <a:pPr>
              <a:buFont typeface="Wingdings" pitchFamily="2" charset="2"/>
              <a:buChar char="v"/>
            </a:pPr>
            <a:r>
              <a:rPr lang="en-US" sz="2100" dirty="0">
                <a:solidFill>
                  <a:schemeClr val="tx1"/>
                </a:solidFill>
              </a:rPr>
              <a:t>Time-series structure: January 2020 → Present</a:t>
            </a:r>
          </a:p>
          <a:p>
            <a:pPr marL="0" indent="0">
              <a:buNone/>
            </a:pPr>
            <a:endParaRPr lang="en-US" sz="2100" dirty="0">
              <a:solidFill>
                <a:schemeClr val="tx1"/>
              </a:solidFill>
            </a:endParaRPr>
          </a:p>
          <a:p>
            <a:r>
              <a:rPr lang="en-US" sz="2100" dirty="0">
                <a:solidFill>
                  <a:schemeClr val="tx1"/>
                </a:solidFill>
              </a:rPr>
              <a:t>Techniques: EDA, Map Visualization, Aggregation Visualization, Interactive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35CBD63-8F8F-47DC-9CE7-159E6161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0E3486-FD49-4921-B4F4-E5BB5C88A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268318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89" y="1123837"/>
            <a:ext cx="2210611" cy="1038177"/>
          </a:xfrm>
        </p:spPr>
        <p:txBody>
          <a:bodyPr anchor="b">
            <a:normAutofit/>
          </a:bodyPr>
          <a:lstStyle/>
          <a:p>
            <a:r>
              <a:rPr lang="en-US" sz="2400" b="1"/>
              <a:t>Data Loading &amp; Cleaning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690" y="2162014"/>
            <a:ext cx="2210611" cy="3744264"/>
          </a:xfrm>
        </p:spPr>
        <p:txBody>
          <a:bodyPr anchor="t">
            <a:normAutofit fontScale="92500" lnSpcReduction="10000"/>
          </a:bodyPr>
          <a:lstStyle/>
          <a:p>
            <a:endParaRPr lang="en-US" sz="14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Loaded CSV directly from GitHub using pandas</a:t>
            </a:r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Aggregated cases by Country/Region</a:t>
            </a:r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Converted wide format → long format</a:t>
            </a:r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Merged confirmed and deaths into a single dataset</a:t>
            </a:r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Computed new daily cases and deaths using groupby-diff</a:t>
            </a:r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Corrected negative values (reset to 0)</a:t>
            </a:r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</a:rPr>
              <a:t>Prepared the latest-date snapshot for visualization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B4A72C-2924-4CE2-8674-7E02E182E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0DFEFEC-A3AA-7BD7-D7BE-EBCC5339E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494" y="110098"/>
            <a:ext cx="4507831" cy="349423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F8EA79-6AAC-E18E-13BE-5112C0DA0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410" y="3641331"/>
            <a:ext cx="5907942" cy="29224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5DC95B7-2A72-483B-BA19-2BE751205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822AFE-7E96-4A51-9E55-FCAEACD21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387" y="4212709"/>
            <a:ext cx="8073699" cy="1873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69EA61-C175-4B7E-807B-58199DEA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DE1784-2B92-0468-0B49-C66B28B92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995"/>
            <a:ext cx="9144000" cy="59563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ABBB681-F4D2-40F2-ACC3-DE0B4B48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388ED0-1FEF-4E11-B488-BD661D1A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58470"/>
            <a:ext cx="8428482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30BCB8-3087-B204-735D-D7E7262E6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03" y="796081"/>
            <a:ext cx="7951794" cy="522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03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C45873-2A30-AD6A-500E-7C0C0EF93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404800" y="0"/>
            <a:ext cx="9548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733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5DC95B7-2A72-483B-BA19-2BE751205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822AFE-7E96-4A51-9E55-FCAEACD21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387" y="4212709"/>
            <a:ext cx="8073699" cy="1873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804" y="4386057"/>
            <a:ext cx="3050275" cy="1527244"/>
          </a:xfrm>
        </p:spPr>
        <p:txBody>
          <a:bodyPr>
            <a:normAutofit/>
          </a:bodyPr>
          <a:lstStyle/>
          <a:p>
            <a:pPr algn="r"/>
            <a:r>
              <a:rPr lang="en-US" sz="2800" dirty="0"/>
              <a:t>Aggregation Visualization: Design 2 – Box Plot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69EA61-C175-4B7E-807B-58199DEA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A graph of covid-19 cases&#10;&#10;AI-generated content may be incorrect.">
            <a:extLst>
              <a:ext uri="{FF2B5EF4-FFF2-40B4-BE49-F238E27FC236}">
                <a16:creationId xmlns:a16="http://schemas.microsoft.com/office/drawing/2014/main" id="{4C05A8B8-BE58-7342-93FE-C213DF1CF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716" y="255674"/>
            <a:ext cx="7105510" cy="378368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8042" y="4386720"/>
            <a:ext cx="4494458" cy="1526582"/>
          </a:xfrm>
        </p:spPr>
        <p:txBody>
          <a:bodyPr anchor="ctr">
            <a:normAutofit/>
          </a:bodyPr>
          <a:lstStyle/>
          <a:p>
            <a:endParaRPr lang="en-US" sz="800" dirty="0">
              <a:solidFill>
                <a:srgbClr val="FFFFFF"/>
              </a:solidFill>
            </a:endParaRPr>
          </a:p>
          <a:p>
            <a:r>
              <a:rPr lang="en-US" sz="800" dirty="0">
                <a:solidFill>
                  <a:srgbClr val="FFFFFF"/>
                </a:solidFill>
              </a:rPr>
              <a:t>Groups countries by continent to compare regional outbreak patterns</a:t>
            </a:r>
          </a:p>
          <a:p>
            <a:r>
              <a:rPr lang="en-US" sz="800" dirty="0">
                <a:solidFill>
                  <a:srgbClr val="FFFFFF"/>
                </a:solidFill>
              </a:rPr>
              <a:t>Uses log10 transformation to handle large variation in new daily cases</a:t>
            </a:r>
          </a:p>
          <a:p>
            <a:r>
              <a:rPr lang="en-US" sz="800" dirty="0">
                <a:solidFill>
                  <a:srgbClr val="FFFFFF"/>
                </a:solidFill>
              </a:rPr>
              <a:t>Boxplot shows median, quartiles, and spread of new infections</a:t>
            </a:r>
          </a:p>
          <a:p>
            <a:r>
              <a:rPr lang="en-US" sz="800" dirty="0">
                <a:solidFill>
                  <a:srgbClr val="FFFFFF"/>
                </a:solidFill>
              </a:rPr>
              <a:t>Highlights regional differences in COVID-19 growth rates</a:t>
            </a:r>
          </a:p>
          <a:p>
            <a:r>
              <a:rPr lang="en-US" sz="800" dirty="0">
                <a:solidFill>
                  <a:srgbClr val="FFFFFF"/>
                </a:solidFill>
              </a:rPr>
              <a:t>Identifies regions with higher variability or more extreme spikes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ABBB681-F4D2-40F2-ACC3-DE0B4B48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675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9388ED0-1FEF-4E11-B488-BD661D1A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58470"/>
            <a:ext cx="8428482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3B364C-822E-5D2F-DA5F-6303B8527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05" y="771434"/>
            <a:ext cx="7868590" cy="52719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5DC95B7-2A72-483B-BA19-2BE751205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822AFE-7E96-4A51-9E55-FCAEACD21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387" y="4212709"/>
            <a:ext cx="8073699" cy="1873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69EA61-C175-4B7E-807B-58199DEA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9BBDE2-B499-3961-25DF-FCAC28B09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01" y="629323"/>
            <a:ext cx="8337585" cy="557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0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8179482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565" y="1087374"/>
            <a:ext cx="6737617" cy="1000978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0899" y="758952"/>
            <a:ext cx="889035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" y="2526526"/>
            <a:ext cx="877276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9264" y="2526526"/>
            <a:ext cx="8190670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564" y="2535446"/>
            <a:ext cx="6737617" cy="3554457"/>
          </a:xfrm>
        </p:spPr>
        <p:txBody>
          <a:bodyPr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COVID-19 data reveals strong geographic differences</a:t>
            </a:r>
          </a:p>
          <a:p>
            <a:r>
              <a:rPr lang="en-US">
                <a:solidFill>
                  <a:schemeClr val="tx1"/>
                </a:solidFill>
              </a:rPr>
              <a:t>High case concentration in specific countries</a:t>
            </a:r>
          </a:p>
          <a:p>
            <a:r>
              <a:rPr lang="en-US">
                <a:solidFill>
                  <a:schemeClr val="tx1"/>
                </a:solidFill>
              </a:rPr>
              <a:t>Aggregation visualizations highlight uneven global spread</a:t>
            </a:r>
          </a:p>
          <a:p>
            <a:r>
              <a:rPr lang="en-US">
                <a:solidFill>
                  <a:schemeClr val="tx1"/>
                </a:solidFill>
              </a:rPr>
              <a:t>Interactive tools improve understanding of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372</TotalTime>
  <Words>200</Words>
  <Application>Microsoft Macintosh PowerPoint</Application>
  <PresentationFormat>On-screen Show (4:3)</PresentationFormat>
  <Paragraphs>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Corbel</vt:lpstr>
      <vt:lpstr>Wingdings</vt:lpstr>
      <vt:lpstr>Wingdings 2</vt:lpstr>
      <vt:lpstr>Frame</vt:lpstr>
      <vt:lpstr>Introduction</vt:lpstr>
      <vt:lpstr>Data Loading &amp; Cleaning</vt:lpstr>
      <vt:lpstr>PowerPoint Presentation</vt:lpstr>
      <vt:lpstr>PowerPoint Presentation</vt:lpstr>
      <vt:lpstr>PowerPoint Presentation</vt:lpstr>
      <vt:lpstr>Aggregation Visualization: Design 2 – Box Plot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n.isratjahan1994@gmail.com</cp:lastModifiedBy>
  <cp:revision>37</cp:revision>
  <dcterms:created xsi:type="dcterms:W3CDTF">2013-01-27T09:14:16Z</dcterms:created>
  <dcterms:modified xsi:type="dcterms:W3CDTF">2026-03-26T23:20:49Z</dcterms:modified>
  <cp:category/>
</cp:coreProperties>
</file>